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77955" y="514350"/>
            <a:ext cx="1851682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STAKEHOLDER BRIEFING / 2026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14363" y="514350"/>
            <a:ext cx="791527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2" kern="0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UNIFIED OPS AX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14363" y="1032272"/>
            <a:ext cx="5429250" cy="1573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3750" b="1" spc="-2" kern="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High-Concurrency</a:t>
            </a:r>
            <a:r>
              <a:rPr lang="en-US" sz="3750" b="1" spc="-2" kern="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3750" b="1" spc="-2" kern="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r>
              <a:rPr lang="en-US" sz="3750" b="1" spc="-2" kern="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3750" b="1" spc="-2" kern="0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Migration</a:t>
            </a:r>
            <a:endParaRPr lang="en-US" sz="3750" dirty="0"/>
          </a:p>
        </p:txBody>
      </p:sp>
      <p:sp>
        <p:nvSpPr>
          <p:cNvPr id="6" name="Text 3"/>
          <p:cNvSpPr/>
          <p:nvPr/>
        </p:nvSpPr>
        <p:spPr>
          <a:xfrm>
            <a:off x="614363" y="2734717"/>
            <a:ext cx="4429125" cy="74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How the alert-control loop scales from a single-node SQLite prototype to a PostgreSQL-backed operational system.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172200" y="1285875"/>
            <a:ext cx="2357438" cy="1554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b="1" dirty="0">
                <a:solidFill>
                  <a:srgbClr val="1A253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Focus</a:t>
            </a:r>
            <a:r>
              <a:rPr lang="en-US" sz="90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0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Alert storms · Locust validation</a:t>
            </a:r>
            <a:r>
              <a:rPr lang="en-US" sz="90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0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Durable state · PostgreSQL </a:t>
            </a:r>
            <a:r>
              <a:rPr lang="en-US" sz="90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cutover</a:t>
            </a:r>
            <a:r>
              <a:rPr lang="en-US" sz="90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50" b="1" dirty="0">
                <a:solidFill>
                  <a:srgbClr val="1A253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Audience</a:t>
            </a:r>
            <a:r>
              <a:rPr lang="en-US" sz="90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90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Engineering, platform, and </a:t>
            </a:r>
            <a:r>
              <a:rPr lang="en-US" sz="90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product stakeholders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85763"/>
            <a:ext cx="81438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 / WHY THIS MATTERS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00063" y="646509"/>
            <a:ext cx="6572250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operational problem is the feedback loop</a:t>
            </a:r>
            <a:endParaRPr lang="en-US" sz="2350" dirty="0"/>
          </a:p>
        </p:txBody>
      </p:sp>
      <p:sp>
        <p:nvSpPr>
          <p:cNvPr id="5" name="Shape 2"/>
          <p:cNvSpPr/>
          <p:nvPr/>
        </p:nvSpPr>
        <p:spPr>
          <a:xfrm>
            <a:off x="500063" y="1725216"/>
            <a:ext cx="8143875" cy="30003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500063" y="1725216"/>
            <a:ext cx="8143875" cy="14288"/>
          </a:xfrm>
          <a:prstGeom prst="rect">
            <a:avLst/>
          </a:prstGeom>
          <a:solidFill>
            <a:srgbClr val="1A2530"/>
          </a:solidFill>
          <a:ln/>
        </p:spPr>
      </p:sp>
      <p:sp>
        <p:nvSpPr>
          <p:cNvPr id="7" name="Shape 4"/>
          <p:cNvSpPr/>
          <p:nvPr/>
        </p:nvSpPr>
        <p:spPr>
          <a:xfrm>
            <a:off x="500063" y="4711303"/>
            <a:ext cx="8143875" cy="14288"/>
          </a:xfrm>
          <a:prstGeom prst="rect">
            <a:avLst/>
          </a:prstGeom>
          <a:solidFill>
            <a:srgbClr val="1A2530"/>
          </a:solidFill>
          <a:ln/>
        </p:spPr>
      </p:sp>
      <p:sp>
        <p:nvSpPr>
          <p:cNvPr id="8" name="Text 5"/>
          <p:cNvSpPr/>
          <p:nvPr/>
        </p:nvSpPr>
        <p:spPr>
          <a:xfrm>
            <a:off x="500063" y="1868091"/>
            <a:ext cx="2780314" cy="9114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AI-agent fleets generate fast-moving cost, latency, reliability, and data-protection incidents.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0063" y="2922463"/>
            <a:ext cx="2780314" cy="683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Most systems stop at observation: dashboards, alerts, and tickets.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0063" y="3748962"/>
            <a:ext cx="2780314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Ops AX is designed to close the loop.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894739" y="1868091"/>
            <a:ext cx="474914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CORE VALUE PROPOSITION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001895" y="2278856"/>
            <a:ext cx="6290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001895" y="2500313"/>
            <a:ext cx="62904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001895" y="2778919"/>
            <a:ext cx="629041" cy="675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Telemetry from agent calls and security events.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809530" y="2824962"/>
            <a:ext cx="23970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227830" y="2278856"/>
            <a:ext cx="7800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227830" y="2500313"/>
            <a:ext cx="78006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227830" y="2778919"/>
            <a:ext cx="780064" cy="675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Policy engine validates, deduplicates, and prioritizes.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186488" y="2824962"/>
            <a:ext cx="239706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604788" y="2278856"/>
            <a:ext cx="79491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604788" y="2500313"/>
            <a:ext cx="794910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604788" y="2778919"/>
            <a:ext cx="794910" cy="540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Apply bounded routing, DLP, or scaling actions.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7578291" y="2824962"/>
            <a:ext cx="239762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996647" y="2278856"/>
            <a:ext cx="5400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04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7996647" y="2500313"/>
            <a:ext cx="54007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996647" y="2778919"/>
            <a:ext cx="540079" cy="81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Record outcome, cooldown, and rollback evidence.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894739" y="3896134"/>
            <a:ext cx="474914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Can this remain safe and responsive during an alert storm?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85763"/>
            <a:ext cx="81438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 / CONTROL ARCHITECTURE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00063" y="646509"/>
            <a:ext cx="814387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 separates detection from action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00063" y="1096566"/>
            <a:ext cx="814387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Durable intent first. External side effects second. Verification always.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00063" y="1694464"/>
            <a:ext cx="1735931" cy="1608013"/>
          </a:xfrm>
          <a:prstGeom prst="rect">
            <a:avLst/>
          </a:prstGeom>
          <a:solidFill>
            <a:srgbClr val="F3F5F6"/>
          </a:solidFill>
          <a:ln w="18288">
            <a:solidFill>
              <a:srgbClr val="1A25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8650" y="1865914"/>
            <a:ext cx="1478756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 / INGRESS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628650" y="2212386"/>
            <a:ext cx="147875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intake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8650" y="2533855"/>
            <a:ext cx="1478756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Splunk or monitoring systems send signed anomaly alerts to the webhook.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307431" y="2359168"/>
            <a:ext cx="25717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636044" y="1614488"/>
            <a:ext cx="1735931" cy="1768022"/>
          </a:xfrm>
          <a:prstGeom prst="rect">
            <a:avLst/>
          </a:prstGeom>
          <a:solidFill>
            <a:srgbClr val="F3F5F6"/>
          </a:solidFill>
          <a:ln w="18288">
            <a:solidFill>
              <a:srgbClr val="1A25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64631" y="1771650"/>
            <a:ext cx="1478756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 / DECISION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764631" y="2118122"/>
            <a:ext cx="147875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engine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764631" y="2439591"/>
            <a:ext cx="1478756" cy="80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Validate timestamp, deduplicate, apply precedence, and create a bounded override.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443413" y="2344880"/>
            <a:ext cx="25717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772025" y="1680177"/>
            <a:ext cx="1735931" cy="1608013"/>
          </a:xfrm>
          <a:prstGeom prst="rect">
            <a:avLst/>
          </a:prstGeom>
          <a:solidFill>
            <a:srgbClr val="F3F5F6"/>
          </a:solidFill>
          <a:ln w="18288">
            <a:solidFill>
              <a:srgbClr val="1A253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00613" y="1851627"/>
            <a:ext cx="1478756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 / EXECUTION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900613" y="2198098"/>
            <a:ext cx="147875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workers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900613" y="2519567"/>
            <a:ext cx="1478756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Run routing, caching, DLP, or Kubernetes adapters asynchronously.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579394" y="2344880"/>
            <a:ext cx="25717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908006" y="1680177"/>
            <a:ext cx="1735931" cy="1608013"/>
          </a:xfrm>
          <a:prstGeom prst="rect">
            <a:avLst/>
          </a:prstGeom>
          <a:solidFill>
            <a:srgbClr val="F3F5F6"/>
          </a:solidFill>
          <a:ln w="18288">
            <a:solidFill>
              <a:srgbClr val="1A253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36594" y="1851627"/>
            <a:ext cx="1478756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04 / EVIDENCE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7036594" y="2198098"/>
            <a:ext cx="147875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+ verify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036594" y="2519567"/>
            <a:ext cx="1478756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Record intent, outcome, cooldown, rollback, and failure evidence.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00063" y="3696835"/>
            <a:ext cx="8143875" cy="3821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500063" y="3696835"/>
            <a:ext cx="8143875" cy="14288"/>
          </a:xfrm>
          <a:prstGeom prst="rect">
            <a:avLst/>
          </a:prstGeom>
          <a:solidFill>
            <a:srgbClr val="1A2530"/>
          </a:solidFill>
          <a:ln/>
        </p:spPr>
      </p:sp>
      <p:sp>
        <p:nvSpPr>
          <p:cNvPr id="27" name="Shape 24"/>
          <p:cNvSpPr/>
          <p:nvPr/>
        </p:nvSpPr>
        <p:spPr>
          <a:xfrm>
            <a:off x="500063" y="4064738"/>
            <a:ext cx="8143875" cy="14288"/>
          </a:xfrm>
          <a:prstGeom prst="rect">
            <a:avLst/>
          </a:prstGeom>
          <a:solidFill>
            <a:srgbClr val="1A2530"/>
          </a:solidFill>
          <a:ln/>
        </p:spPr>
      </p:sp>
      <p:sp>
        <p:nvSpPr>
          <p:cNvPr id="28" name="Text 25"/>
          <p:cNvSpPr/>
          <p:nvPr/>
        </p:nvSpPr>
        <p:spPr>
          <a:xfrm>
            <a:off x="500063" y="3696835"/>
            <a:ext cx="8143875" cy="382191"/>
          </a:xfrm>
          <a:prstGeom prst="rect">
            <a:avLst/>
          </a:prstGeom>
          <a:noFill/>
          <a:ln/>
        </p:spPr>
        <p:txBody>
          <a:bodyPr wrap="square" lIns="0" tIns="187071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State transition</a:t>
            </a:r>
            <a:r>
              <a:rPr lang="en-US" sz="1000" b="1" dirty="0">
                <a:solidFill>
                  <a:srgbClr val="1A253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RECEIVED → CLAIMED → APPLIED → VERIFIED / ROLLED BACK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85763"/>
            <a:ext cx="8643938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 / CONCURRENCY LIMITS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00063" y="646509"/>
            <a:ext cx="7143750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storms create a single-writer pressure point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0" y="1575197"/>
            <a:ext cx="9144000" cy="34004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1575197"/>
            <a:ext cx="9144000" cy="14288"/>
          </a:xfrm>
          <a:prstGeom prst="rect">
            <a:avLst/>
          </a:prstGeom>
          <a:solidFill>
            <a:srgbClr val="1A253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3" y="1860947"/>
            <a:ext cx="1285875" cy="128587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928813" y="1860947"/>
            <a:ext cx="1214438" cy="3100388"/>
          </a:xfrm>
          <a:prstGeom prst="rect">
            <a:avLst/>
          </a:prstGeom>
          <a:solidFill>
            <a:srgbClr val="F3F5F6"/>
          </a:solidFill>
          <a:ln w="9144">
            <a:solidFill>
              <a:srgbClr val="1A253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928813" y="1860947"/>
            <a:ext cx="1214438" cy="3100388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The WAL Boundary:</a:t>
            </a: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</a:t>
            </a: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
</a:t>
            </a: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SQLite WAL </a:t>
            </a: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allows </a:t>
            </a: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concurrent </a:t>
            </a: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readers but </a:t>
            </a: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only a single </a:t>
            </a: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writer. During </a:t>
            </a: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alert storms </a:t>
            </a: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the hot write </a:t>
            </a: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path (Claim → </a:t>
            </a: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Precedence → </a:t>
            </a: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Override → </a:t>
            </a: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Audit) can </a:t>
            </a: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become </a:t>
            </a: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serialized and </a:t>
            </a: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slow.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3871913" y="1746647"/>
            <a:ext cx="477202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Claiming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064794" y="2028825"/>
            <a:ext cx="12344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 single-step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299267" y="2028825"/>
            <a:ext cx="123447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INSERT OR IGNORE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533741" y="2028825"/>
            <a:ext cx="177455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to arbitrate duplicate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064794" y="2208814"/>
            <a:ext cx="439770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alerts at the database level, preventing race conditions.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871913" y="2531678"/>
            <a:ext cx="477202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Minimization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871913" y="2813856"/>
            <a:ext cx="4772025" cy="359978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Keep write transactions under 5ms by excluding network calls (Slack, K8s, Splunk) from the database commit block.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871913" y="3316709"/>
            <a:ext cx="4772025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Coalescing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871913" y="3598887"/>
            <a:ext cx="4772025" cy="359978"/>
          </a:xfrm>
          <a:prstGeom prst="rect">
            <a:avLst/>
          </a:prstGeom>
          <a:noFill/>
          <a:ln/>
        </p:spPr>
        <p:txBody>
          <a:bodyPr wrap="square" lIns="229616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Suppress redundant alerts for the same incident scope to reduce write volume without losing operational visibility.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935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85763"/>
            <a:ext cx="81438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04 / VALIDATION &amp; BENCHMARKING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00063" y="646509"/>
            <a:ext cx="7858125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load test validates both speed and correctness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00063" y="1468041"/>
            <a:ext cx="38576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METHODOLOGY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500063" y="1689497"/>
            <a:ext cx="3857625" cy="760809"/>
          </a:xfrm>
          <a:prstGeom prst="rect">
            <a:avLst/>
          </a:prstGeom>
          <a:solidFill>
            <a:srgbClr val="F3F5F6"/>
          </a:solidFill>
          <a:ln w="9144">
            <a:solidFill>
              <a:srgbClr val="1A253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4363" y="1803797"/>
            <a:ext cx="362902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Locust HTTP Workload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14363" y="2021681"/>
            <a:ext cx="36290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250 concurrent users targeting ~500 alerts/sec. Measures full-path latency including JSON parsing and auth.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00063" y="2607469"/>
            <a:ext cx="3857625" cy="760809"/>
          </a:xfrm>
          <a:prstGeom prst="rect">
            <a:avLst/>
          </a:prstGeom>
          <a:solidFill>
            <a:srgbClr val="F3F5F6"/>
          </a:solidFill>
          <a:ln w="9144">
            <a:solidFill>
              <a:srgbClr val="1A25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4363" y="2721769"/>
            <a:ext cx="362902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pytest-benchmark Isolation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4363" y="2939653"/>
            <a:ext cx="3629025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Direct state-transition measurement. Isolates database overhead from network and application layers.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00063" y="3525441"/>
            <a:ext cx="38576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CORRECTNESS GATES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500063" y="3775472"/>
            <a:ext cx="3857625" cy="15359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Zero unexpected 5xx HTTP responses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00063" y="4014788"/>
            <a:ext cx="3857625" cy="15359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Exactly one acceptance for duplicate storms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00063" y="4254103"/>
            <a:ext cx="3857625" cy="15359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Zero lost audit records during soak test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00063" y="4493419"/>
            <a:ext cx="3857625" cy="15359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Durable recovery after process restart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00063" y="3775472"/>
            <a:ext cx="20577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 ]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00063" y="4014788"/>
            <a:ext cx="20577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 ]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00063" y="4254103"/>
            <a:ext cx="20577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 ]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00063" y="4493419"/>
            <a:ext cx="20577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[ ]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786313" y="1468041"/>
            <a:ext cx="38576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WORKLOAD CONFIGURATION</a:t>
            </a:r>
            <a:endParaRPr lang="en-US" sz="7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6313" y="1689497"/>
            <a:ext cx="3128963" cy="187880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786313" y="3768328"/>
            <a:ext cx="1458385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253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Scenario</a:t>
            </a:r>
            <a:endParaRPr lang="en-US" sz="700" dirty="0"/>
          </a:p>
        </p:txBody>
      </p:sp>
      <p:sp>
        <p:nvSpPr>
          <p:cNvPr id="24" name="Text 20"/>
          <p:cNvSpPr/>
          <p:nvPr/>
        </p:nvSpPr>
        <p:spPr>
          <a:xfrm>
            <a:off x="6244698" y="3768328"/>
            <a:ext cx="854459" cy="257175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253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Mix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7099157" y="3768328"/>
            <a:ext cx="1544780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A253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Objective</a:t>
            </a:r>
            <a:endParaRPr lang="en-US" sz="700" dirty="0"/>
          </a:p>
        </p:txBody>
      </p:sp>
      <p:sp>
        <p:nvSpPr>
          <p:cNvPr id="26" name="Text 22"/>
          <p:cNvSpPr/>
          <p:nvPr/>
        </p:nvSpPr>
        <p:spPr>
          <a:xfrm>
            <a:off x="4786313" y="4025503"/>
            <a:ext cx="1458385" cy="26074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Distinct Alerts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6244698" y="4025503"/>
            <a:ext cx="854459" cy="260747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100%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7099157" y="4025503"/>
            <a:ext cx="1544780" cy="260747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Baseline Latency</a:t>
            </a:r>
            <a:endParaRPr lang="en-US" sz="750" dirty="0"/>
          </a:p>
        </p:txBody>
      </p:sp>
      <p:sp>
        <p:nvSpPr>
          <p:cNvPr id="29" name="Text 25"/>
          <p:cNvSpPr/>
          <p:nvPr/>
        </p:nvSpPr>
        <p:spPr>
          <a:xfrm>
            <a:off x="4786313" y="4286250"/>
            <a:ext cx="1458385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Duplicate Storm</a:t>
            </a:r>
            <a:endParaRPr lang="en-US" sz="750" dirty="0"/>
          </a:p>
        </p:txBody>
      </p:sp>
      <p:sp>
        <p:nvSpPr>
          <p:cNvPr id="30" name="Text 26"/>
          <p:cNvSpPr/>
          <p:nvPr/>
        </p:nvSpPr>
        <p:spPr>
          <a:xfrm>
            <a:off x="6244698" y="4286250"/>
            <a:ext cx="854459" cy="257175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80/20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7099157" y="4286250"/>
            <a:ext cx="1544780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Idempotency</a:t>
            </a:r>
            <a:endParaRPr lang="en-US" sz="750" dirty="0"/>
          </a:p>
        </p:txBody>
      </p:sp>
      <p:sp>
        <p:nvSpPr>
          <p:cNvPr id="32" name="Text 28"/>
          <p:cNvSpPr/>
          <p:nvPr/>
        </p:nvSpPr>
        <p:spPr>
          <a:xfrm>
            <a:off x="4786313" y="4543425"/>
            <a:ext cx="1458385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Mixed Incidents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6244698" y="4543425"/>
            <a:ext cx="854459" cy="257175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50/30/20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7099157" y="4543425"/>
            <a:ext cx="1544780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Precedence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4786313" y="4800600"/>
            <a:ext cx="1458385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Stale Replays</a:t>
            </a:r>
            <a:endParaRPr lang="en-US" sz="750" dirty="0"/>
          </a:p>
        </p:txBody>
      </p:sp>
      <p:sp>
        <p:nvSpPr>
          <p:cNvPr id="36" name="Text 32"/>
          <p:cNvSpPr/>
          <p:nvPr/>
        </p:nvSpPr>
        <p:spPr>
          <a:xfrm>
            <a:off x="6244698" y="4800600"/>
            <a:ext cx="854459" cy="257175"/>
          </a:xfrm>
          <a:prstGeom prst="rect">
            <a:avLst/>
          </a:prstGeom>
          <a:noFill/>
          <a:ln/>
        </p:spPr>
        <p:txBody>
          <a:bodyPr wrap="non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10%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7099157" y="4800600"/>
            <a:ext cx="1544780" cy="257175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Replay Rejection</a:t>
            </a:r>
            <a:endParaRPr lang="en-US" sz="750" dirty="0"/>
          </a:p>
        </p:txBody>
      </p:sp>
      <p:sp>
        <p:nvSpPr>
          <p:cNvPr id="38" name="Shape 34"/>
          <p:cNvSpPr/>
          <p:nvPr/>
        </p:nvSpPr>
        <p:spPr>
          <a:xfrm>
            <a:off x="4786313" y="5118497"/>
            <a:ext cx="1457325" cy="175022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39" name="Text 35"/>
          <p:cNvSpPr/>
          <p:nvPr/>
        </p:nvSpPr>
        <p:spPr>
          <a:xfrm>
            <a:off x="4786313" y="5118497"/>
            <a:ext cx="1457325" cy="17502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PENDING FINAL MEASUREMENT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85763"/>
            <a:ext cx="81438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05 / SCALABILITY ROADMAP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00063" y="646509"/>
            <a:ext cx="8143875" cy="4643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00063" y="1096566"/>
            <a:ext cx="8143875" cy="14288"/>
          </a:xfrm>
          <a:prstGeom prst="rect">
            <a:avLst/>
          </a:prstGeom>
          <a:solidFill>
            <a:srgbClr val="1A2530"/>
          </a:solidFill>
          <a:ln/>
        </p:spPr>
      </p:sp>
      <p:sp>
        <p:nvSpPr>
          <p:cNvPr id="6" name="Text 3"/>
          <p:cNvSpPr/>
          <p:nvPr/>
        </p:nvSpPr>
        <p:spPr>
          <a:xfrm>
            <a:off x="500063" y="646509"/>
            <a:ext cx="8143875" cy="464344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migration path preserves safety before speed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500063" y="1382316"/>
            <a:ext cx="2600325" cy="1285875"/>
          </a:xfrm>
          <a:prstGeom prst="rect">
            <a:avLst/>
          </a:prstGeom>
          <a:solidFill>
            <a:srgbClr val="F3F5F6"/>
          </a:solidFill>
          <a:ln w="9144">
            <a:solidFill>
              <a:srgbClr val="1A253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2938" y="1525191"/>
            <a:ext cx="23145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PHASE 01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642938" y="1718072"/>
            <a:ext cx="231457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2938" y="1982391"/>
            <a:ext cx="2314575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Deploy PostgreSQL schema and shared store interface. Ensure both adapters pass identical contract tests.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271838" y="1382316"/>
            <a:ext cx="2600325" cy="1285875"/>
          </a:xfrm>
          <a:prstGeom prst="rect">
            <a:avLst/>
          </a:prstGeom>
          <a:solidFill>
            <a:srgbClr val="F3F5F6"/>
          </a:solidFill>
          <a:ln w="9144">
            <a:solidFill>
              <a:srgbClr val="1A25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14713" y="1525191"/>
            <a:ext cx="23145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PHASE 02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414713" y="1718072"/>
            <a:ext cx="231457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DUAL-WRITE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14713" y="1982391"/>
            <a:ext cx="2314575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Keep SQLite as source; write every new alert, override, and audit event to PostgreSQL idempotently.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6043613" y="1382316"/>
            <a:ext cx="2600325" cy="1285875"/>
          </a:xfrm>
          <a:prstGeom prst="rect">
            <a:avLst/>
          </a:prstGeom>
          <a:solidFill>
            <a:srgbClr val="F3F5F6"/>
          </a:solidFill>
          <a:ln w="9144">
            <a:solidFill>
              <a:srgbClr val="1A253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86488" y="1525191"/>
            <a:ext cx="23145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PHASE 03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186488" y="1718072"/>
            <a:ext cx="231457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BACKFILL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86488" y="1982391"/>
            <a:ext cx="2314575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 historical SQLite state in one transaction. Verify counts and sampled payload checksums.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500063" y="2839641"/>
            <a:ext cx="2600325" cy="1285875"/>
          </a:xfrm>
          <a:prstGeom prst="rect">
            <a:avLst/>
          </a:prstGeom>
          <a:solidFill>
            <a:srgbClr val="F3F5F6"/>
          </a:solidFill>
          <a:ln w="9144">
            <a:solidFill>
              <a:srgbClr val="1A253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2938" y="2982516"/>
            <a:ext cx="23145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PHASE 04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42938" y="3175397"/>
            <a:ext cx="231457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SHADOW-READ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42938" y="3439716"/>
            <a:ext cx="2314575" cy="559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Compare PostgreSQL reads in background. Validate latency and schema integrity without using results.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3271838" y="2839641"/>
            <a:ext cx="2600325" cy="1285875"/>
          </a:xfrm>
          <a:prstGeom prst="rect">
            <a:avLst/>
          </a:prstGeom>
          <a:solidFill>
            <a:srgbClr val="F3F5F6"/>
          </a:solidFill>
          <a:ln w="9144">
            <a:solidFill>
              <a:srgbClr val="1A253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14713" y="2982516"/>
            <a:ext cx="23145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PHASE 05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3414713" y="3175397"/>
            <a:ext cx="231457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OVER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414713" y="3439716"/>
            <a:ext cx="2314575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Switch policy decisions to PostgreSQL via feature flag. Retain SQLite dual-write for rollback window.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6043613" y="2839641"/>
            <a:ext cx="2600325" cy="1285875"/>
          </a:xfrm>
          <a:prstGeom prst="rect">
            <a:avLst/>
          </a:prstGeom>
          <a:solidFill>
            <a:srgbClr val="F3F5F6"/>
          </a:solidFill>
          <a:ln w="9144">
            <a:solidFill>
              <a:srgbClr val="1A253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86488" y="2982516"/>
            <a:ext cx="231457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PHASE 06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186488" y="3175397"/>
            <a:ext cx="2314575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186488" y="3439716"/>
            <a:ext cx="2314575" cy="419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Stop SQLite writes and archive file. Verify backup, restore, and rollback drills are operational.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500063" y="4411266"/>
            <a:ext cx="8143875" cy="31075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500063" y="4411266"/>
            <a:ext cx="8143875" cy="14288"/>
          </a:xfrm>
          <a:prstGeom prst="rect">
            <a:avLst/>
          </a:prstGeom>
          <a:solidFill>
            <a:srgbClr val="1A2530"/>
          </a:solidFill>
          <a:ln/>
        </p:spPr>
      </p:sp>
      <p:sp>
        <p:nvSpPr>
          <p:cNvPr id="33" name="Text 30"/>
          <p:cNvSpPr/>
          <p:nvPr/>
        </p:nvSpPr>
        <p:spPr>
          <a:xfrm>
            <a:off x="500063" y="4554141"/>
            <a:ext cx="2468947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STRATEGY: </a:t>
            </a:r>
            <a:r>
              <a:rPr lang="en-US" sz="8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Expand-Write-Verify-Switch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763555" y="4554141"/>
            <a:ext cx="2880382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GOAL: </a:t>
            </a:r>
            <a:r>
              <a:rPr lang="en-US" sz="8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Zero-Downtime Persistence Transition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85763"/>
            <a:ext cx="8643938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06 / SCALING STRATEGY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00063" y="646509"/>
            <a:ext cx="864393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removes the single-node ceiling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0" y="1296591"/>
            <a:ext cx="91440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0" y="1296591"/>
            <a:ext cx="9144000" cy="14288"/>
          </a:xfrm>
          <a:prstGeom prst="rect">
            <a:avLst/>
          </a:prstGeom>
          <a:solidFill>
            <a:srgbClr val="1A2530"/>
          </a:solidFill>
          <a:ln/>
        </p:spPr>
      </p:sp>
      <p:sp>
        <p:nvSpPr>
          <p:cNvPr id="7" name="Text 4"/>
          <p:cNvSpPr/>
          <p:nvPr/>
        </p:nvSpPr>
        <p:spPr>
          <a:xfrm>
            <a:off x="500063" y="1510903"/>
            <a:ext cx="468630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WHEN TO MIGRATE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00063" y="1789509"/>
            <a:ext cx="1874509" cy="246459"/>
          </a:xfrm>
          <a:prstGeom prst="rect">
            <a:avLst/>
          </a:prstGeom>
          <a:noFill/>
          <a:ln/>
        </p:spPr>
        <p:txBody>
          <a:bodyPr wrap="square" lIns="0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253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Trigger Condition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374571" y="1789509"/>
            <a:ext cx="2811791" cy="246459"/>
          </a:xfrm>
          <a:prstGeom prst="rect">
            <a:avLst/>
          </a:prstGeom>
          <a:noFill/>
          <a:ln/>
        </p:spPr>
        <p:txBody>
          <a:bodyPr wrap="square" lIns="0" tIns="102108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A253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Operational Impact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00063" y="2157413"/>
            <a:ext cx="164596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Multi-Replica Deployment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374571" y="2035969"/>
            <a:ext cx="2811791" cy="432197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Need for shared state across multiple application nodes and regions.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00063" y="2586038"/>
            <a:ext cx="1508782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High Write Concurrency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374571" y="2468166"/>
            <a:ext cx="2811791" cy="428625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Alert storms exceeding SQLite's single-writer serialization limits.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00063" y="3014663"/>
            <a:ext cx="1028756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Audit Retention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374571" y="2896791"/>
            <a:ext cx="2811791" cy="428625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Long-lived historical audit logs exceeding multi-gigabyte thresholds.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00063" y="3443288"/>
            <a:ext cx="1440191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Failover Requirements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374571" y="3325416"/>
            <a:ext cx="2811791" cy="428625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Need for managed high-availability and automated disaster recovery.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486400" y="1296591"/>
            <a:ext cx="3657600" cy="3429000"/>
          </a:xfrm>
          <a:prstGeom prst="rect">
            <a:avLst/>
          </a:prstGeom>
          <a:solidFill>
            <a:srgbClr val="F3F5F6"/>
          </a:solidFill>
          <a:ln/>
        </p:spPr>
      </p:sp>
      <p:sp>
        <p:nvSpPr>
          <p:cNvPr id="19" name="Text 16"/>
          <p:cNvSpPr/>
          <p:nvPr/>
        </p:nvSpPr>
        <p:spPr>
          <a:xfrm>
            <a:off x="5772150" y="1510903"/>
            <a:ext cx="287178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SYSTEM OF RECORD</a:t>
            </a:r>
            <a:endParaRPr lang="en-US" sz="7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2150" y="1789509"/>
            <a:ext cx="1714500" cy="107156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900738" y="3075384"/>
            <a:ext cx="27432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 Abstraction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900738" y="3225403"/>
            <a:ext cx="2700393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Depend on PolicyStateStore interface, not SQL dialects.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5900738" y="3625453"/>
            <a:ext cx="27432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Idempotency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5900738" y="3775472"/>
            <a:ext cx="270039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Use ON CONFLICT for zero-race alert claiming.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5900738" y="4039791"/>
            <a:ext cx="274320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Outbox Pattern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5900738" y="4189809"/>
            <a:ext cx="2520348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Decouple policy commits from external side effects.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85763"/>
            <a:ext cx="81438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07 / GOVERNANCE &amp; SAFETY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00063" y="646509"/>
            <a:ext cx="7143750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production milestone is governable remediation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00063" y="1689497"/>
            <a:ext cx="3921919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OPERATIONAL SAFEGUARDS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0063" y="2000250"/>
            <a:ext cx="392191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Policy Intent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0063" y="2235994"/>
            <a:ext cx="392191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Commit remediation plans to state before external calls to avoid transaction hangs.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00063" y="2670311"/>
            <a:ext cx="392191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0063" y="2906055"/>
            <a:ext cx="392191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High-impact actions require operator sign-off or automated dry-run verification.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00063" y="3340373"/>
            <a:ext cx="3921919" cy="1785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Boundaries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0063" y="3576117"/>
            <a:ext cx="392191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Clearly label "Connected" vs "Simulated" modes to preserve operator trust.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722019" y="1689497"/>
            <a:ext cx="3921919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OPERATIONAL METRICS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22019" y="2000250"/>
            <a:ext cx="3921919" cy="510778"/>
          </a:xfrm>
          <a:prstGeom prst="rect">
            <a:avLst/>
          </a:prstGeom>
          <a:solidFill>
            <a:srgbClr val="F3F5F6"/>
          </a:solidFill>
          <a:ln w="9144">
            <a:solidFill>
              <a:srgbClr val="1A25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7744" y="2085975"/>
            <a:ext cx="375046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Remediation Throughput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07744" y="2275284"/>
            <a:ext cx="336046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Accepted vs. deduplicated vs. blocked alerts per minute.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722019" y="2553891"/>
            <a:ext cx="3921919" cy="646509"/>
          </a:xfrm>
          <a:prstGeom prst="rect">
            <a:avLst/>
          </a:prstGeom>
          <a:solidFill>
            <a:srgbClr val="F3F5F6"/>
          </a:solidFill>
          <a:ln w="9144">
            <a:solidFill>
              <a:srgbClr val="1A253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07744" y="2639616"/>
            <a:ext cx="375046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Rate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07744" y="2828925"/>
            <a:ext cx="330046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Share of policies that restored fleet health within the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807744" y="2964656"/>
            <a:ext cx="96016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cooldown window.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722019" y="3243263"/>
            <a:ext cx="3921919" cy="646509"/>
          </a:xfrm>
          <a:prstGeom prst="rect">
            <a:avLst/>
          </a:prstGeom>
          <a:solidFill>
            <a:srgbClr val="F3F5F6"/>
          </a:solidFill>
          <a:ln w="9144">
            <a:solidFill>
              <a:srgbClr val="1A253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07744" y="3328988"/>
            <a:ext cx="375046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Frequency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07744" y="3518297"/>
            <a:ext cx="336046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Manual vs. automated rollbacks to surface over-sensitive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4807744" y="3654028"/>
            <a:ext cx="5400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policies.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722019" y="3932634"/>
            <a:ext cx="3921919" cy="646509"/>
          </a:xfrm>
          <a:prstGeom prst="rect">
            <a:avLst/>
          </a:prstGeom>
          <a:solidFill>
            <a:srgbClr val="F3F5F6"/>
          </a:solidFill>
          <a:ln w="9144">
            <a:solidFill>
              <a:srgbClr val="1A253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07744" y="4018359"/>
            <a:ext cx="375046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Integrity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07744" y="4207669"/>
            <a:ext cx="318042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End-to-end traceability from alert ID to verification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807744" y="4343400"/>
            <a:ext cx="54007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evidence.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85763"/>
            <a:ext cx="81438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08 / CONCLUSION</a:t>
            </a:r>
            <a:endParaRPr lang="en-US" sz="750" dirty="0"/>
          </a:p>
        </p:txBody>
      </p:sp>
      <p:sp>
        <p:nvSpPr>
          <p:cNvPr id="4" name="Text 1"/>
          <p:cNvSpPr/>
          <p:nvPr/>
        </p:nvSpPr>
        <p:spPr>
          <a:xfrm>
            <a:off x="500063" y="646509"/>
            <a:ext cx="7143750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and next steps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500063" y="1339453"/>
            <a:ext cx="2581238" cy="2286000"/>
          </a:xfrm>
          <a:prstGeom prst="rect">
            <a:avLst/>
          </a:prstGeom>
          <a:solidFill>
            <a:srgbClr val="F3F5F6"/>
          </a:solidFill>
          <a:ln w="9144">
            <a:solidFill>
              <a:srgbClr val="1A253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5788" y="1425178"/>
            <a:ext cx="2409788" cy="24645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IMMEDIATE ACTIONS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85788" y="1785938"/>
            <a:ext cx="2409788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Approve the 500 alerts/sec load test scenario.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85788" y="2214563"/>
            <a:ext cx="2409788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Run baseline, duplicate-storm, and 30-minute soak tests.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85788" y="2643188"/>
            <a:ext cx="2409788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Instrument p50/p95/p99 latency monitoring.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81325" y="1339453"/>
            <a:ext cx="2581294" cy="2286000"/>
          </a:xfrm>
          <a:prstGeom prst="rect">
            <a:avLst/>
          </a:prstGeom>
          <a:solidFill>
            <a:srgbClr val="F3F5F6"/>
          </a:solidFill>
          <a:ln w="9144">
            <a:solidFill>
              <a:srgbClr val="1A253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5788" y="1785938"/>
            <a:ext cx="6853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→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85788" y="2214563"/>
            <a:ext cx="6853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→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585788" y="2643188"/>
            <a:ext cx="6853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→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367050" y="1425178"/>
            <a:ext cx="2409844" cy="24645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RELEASE GATES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367050" y="1785938"/>
            <a:ext cx="2409844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100% idempotency: zero duplicate policy applications.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67050" y="2214563"/>
            <a:ext cx="2409844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Durable audit: zero lost records during process restart.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67050" y="2643188"/>
            <a:ext cx="2409844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Safe rejection: 100% of stale timestamps blocked.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062644" y="1339453"/>
            <a:ext cx="2581294" cy="2286000"/>
          </a:xfrm>
          <a:prstGeom prst="rect">
            <a:avLst/>
          </a:prstGeom>
          <a:solidFill>
            <a:srgbClr val="F3F5F6"/>
          </a:solidFill>
          <a:ln w="9144">
            <a:solidFill>
              <a:srgbClr val="1A253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67050" y="1785938"/>
            <a:ext cx="6853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→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367050" y="2214563"/>
            <a:ext cx="6853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→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3367050" y="2643188"/>
            <a:ext cx="6853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→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148369" y="1425178"/>
            <a:ext cx="2409844" cy="246459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MIGRATION TRIGGER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148369" y="1785938"/>
            <a:ext cx="2409844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Implement PostgreSQL adapter and dual-write path.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148369" y="2214563"/>
            <a:ext cx="2409844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Trigger cutover if SQLite busy-retry rate exceeds 2%.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148369" y="2643188"/>
            <a:ext cx="2409844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Verify rollback drill before multi-replica deployment.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00063" y="3711178"/>
            <a:ext cx="8143875" cy="1031658"/>
          </a:xfrm>
          <a:prstGeom prst="rect">
            <a:avLst/>
          </a:prstGeom>
          <a:solidFill>
            <a:srgbClr val="1A2530"/>
          </a:solidFill>
          <a:ln w="18288">
            <a:solidFill>
              <a:srgbClr val="1A253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48369" y="1785938"/>
            <a:ext cx="6853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→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148369" y="2214563"/>
            <a:ext cx="6853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→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148369" y="2643188"/>
            <a:ext cx="6853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→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28650" y="3982027"/>
            <a:ext cx="78867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35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Outcome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28650" y="4235630"/>
            <a:ext cx="7886700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8ECE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 high-concurrency control loop that is not only fast, but explainable, reversible, and auditable for enterprise AI fleets.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385763"/>
            <a:ext cx="814387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09 / APPENDIX</a:t>
            </a:r>
            <a:endParaRPr lang="en-US" sz="750" dirty="0"/>
          </a:p>
        </p:txBody>
      </p:sp>
      <p:sp>
        <p:nvSpPr>
          <p:cNvPr id="4" name="Shape 1"/>
          <p:cNvSpPr/>
          <p:nvPr/>
        </p:nvSpPr>
        <p:spPr>
          <a:xfrm>
            <a:off x="500063" y="646509"/>
            <a:ext cx="8143875" cy="46434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00063" y="1096566"/>
            <a:ext cx="8143875" cy="14288"/>
          </a:xfrm>
          <a:prstGeom prst="rect">
            <a:avLst/>
          </a:prstGeom>
          <a:solidFill>
            <a:srgbClr val="1A2530"/>
          </a:solidFill>
          <a:ln/>
        </p:spPr>
      </p:sp>
      <p:sp>
        <p:nvSpPr>
          <p:cNvPr id="6" name="Text 3"/>
          <p:cNvSpPr/>
          <p:nvPr/>
        </p:nvSpPr>
        <p:spPr>
          <a:xfrm>
            <a:off x="500063" y="646509"/>
            <a:ext cx="8143875" cy="464344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 and measurement notes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500063" y="1382316"/>
            <a:ext cx="385762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TECHNICAL DOCUMENTATION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28650" y="1728788"/>
            <a:ext cx="372903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SQLite WAL Concurrency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8650" y="1907381"/>
            <a:ext cx="1860277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https://www.sqlite.org/wal.html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28650" y="2214563"/>
            <a:ext cx="372903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PostgreSQL Idempotent Writes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28650" y="2393156"/>
            <a:ext cx="3300468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https://www.postgresql.org/docs/current/sql-insert.html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628650" y="2700338"/>
            <a:ext cx="372903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Locust Load Testing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8650" y="2878931"/>
            <a:ext cx="198027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https://docs.locust.io/en/stable/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628650" y="3186113"/>
            <a:ext cx="372903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Python sqlite3 Module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28650" y="3364706"/>
            <a:ext cx="276039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https://docs.python.org/3/library/sqlite3.html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786313" y="1382316"/>
            <a:ext cx="3857625" cy="175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354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MEASUREMENT METHODOLOGY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86313" y="1728788"/>
            <a:ext cx="3857625" cy="982266"/>
          </a:xfrm>
          <a:prstGeom prst="rect">
            <a:avLst/>
          </a:prstGeom>
          <a:solidFill>
            <a:srgbClr val="F3F5F6"/>
          </a:solidFill>
          <a:ln w="9144">
            <a:solidFill>
              <a:srgbClr val="1A25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29188" y="1871663"/>
            <a:ext cx="357187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Locust Target Calculation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929188" y="2103834"/>
            <a:ext cx="3571875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250 users × 2 requests/user/second ≈ 500 offered requests/second. Actual achieved rate is subject to server response latency and available system concurrency.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786313" y="2839641"/>
            <a:ext cx="3857625" cy="1132284"/>
          </a:xfrm>
          <a:prstGeom prst="rect">
            <a:avLst/>
          </a:prstGeom>
          <a:solidFill>
            <a:srgbClr val="F3F5F6"/>
          </a:solidFill>
          <a:ln w="9144">
            <a:solidFill>
              <a:srgbClr val="1A253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29188" y="2982516"/>
            <a:ext cx="3571875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5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Status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929188" y="3214688"/>
            <a:ext cx="3571875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C3E5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Load-test code, pytest-benchmark modules, and migration utilities have been prepared and syntax-checked. Final performance metrics require execution in the target environment.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786313" y="4243388"/>
            <a:ext cx="2028881" cy="221456"/>
          </a:xfrm>
          <a:prstGeom prst="rect">
            <a:avLst/>
          </a:prstGeom>
          <a:solidFill>
            <a:srgbClr val="D35400"/>
          </a:solidFill>
          <a:ln/>
        </p:spPr>
      </p:sp>
      <p:sp>
        <p:nvSpPr>
          <p:cNvPr id="24" name="Text 21"/>
          <p:cNvSpPr/>
          <p:nvPr/>
        </p:nvSpPr>
        <p:spPr>
          <a:xfrm>
            <a:off x="4786313" y="4243388"/>
            <a:ext cx="2028881" cy="221456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DATA STATUS: PENDING FINAL RUN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2026-08-27T00:53:22Z</dcterms:created>
  <dcterms:modified xsi:type="dcterms:W3CDTF">2026-08-27T00:53:22Z</dcterms:modified>
</cp:coreProperties>
</file>